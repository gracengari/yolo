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FF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>
                <a:solidFill>
                  <a:srgbClr val="00FF41"/>
                </a:solidFill>
              </a:rPr>
              <a:t>🦅  HAWKEYE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00FFFF"/>
                </a:solidFill>
              </a:rPr>
              <a:t>Unified Urban Dragnet — AI-Powered City-Wide Surveillance Intelligence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2560320"/>
            <a:ext cx="11640312" cy="27432"/>
          </a:xfrm>
          <a:prstGeom prst="rect">
            <a:avLst/>
          </a:prstGeom>
          <a:solidFill>
            <a:srgbClr val="00FF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DD00"/>
                </a:solidFill>
              </a:rPr>
              <a:t>"The cameras are already watching.  HAWKEYE makes them think."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84048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FF41"/>
                </a:solidFill>
              </a:rPr>
              <a:t>64,001  Vehicle Sightings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29768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FF41"/>
                </a:solidFill>
              </a:rPr>
              <a:t>883  Unique Vehicles Tracked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75488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FF41"/>
                </a:solidFill>
              </a:rPr>
              <a:t>2,911  Person Detections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21208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FF41"/>
                </a:solidFill>
              </a:rPr>
              <a:t>76  Unique Individuals Identified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217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88888"/>
                </a:solidFill>
              </a:rPr>
              <a:t>github.com/GRACENGARI/yolo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FF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THE PROBLEM:  Urban Camouflage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960120"/>
            <a:ext cx="11612880" cy="1371600"/>
          </a:xfrm>
          <a:prstGeom prst="rect">
            <a:avLst/>
          </a:prstGeom>
          <a:solidFill>
            <a:srgbClr val="1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47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DD00"/>
                </a:solidFill>
              </a:rPr>
              <a:t>"A suspect leaves a crime scene in Westlands at 2:14 PM.
By 2:17 PM they have vanished into Nairobi's urban noise.
By the time police piece together the footage — 3 days later — the suspect is already across the border."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2468880"/>
            <a:ext cx="11640312" cy="27432"/>
          </a:xfrm>
          <a:prstGeom prst="rect">
            <a:avLst/>
          </a:prstGeom>
          <a:solidFill>
            <a:srgbClr val="FF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6060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▸  Nairobi has THOUSANDS of CCTV cameras — every one is an island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264408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▸  Cameras in Westlands don't talk to cameras in the CBD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922776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▸  Tracking a suspect = calling building managers + waiting days for DVDs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81144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▸  No unified timeline.  No real-time awareness.  No dragnet.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23951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▸  Criminals exploit the GAP between cameras as their escape route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0FF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</a:rPr>
              <a:t>THE SOLUTION:  HAWKEYE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960120"/>
            <a:ext cx="11612880" cy="118872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FFFF"/>
                </a:solidFill>
              </a:rPr>
              <a:t>HAWKEYE is the intelligence layer that stitches every camera feed into a single,
searchable, real-time timeline — tracking any face or vehicle across the entire city in SECONDS.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2286000"/>
            <a:ext cx="11640312" cy="27432"/>
          </a:xfrm>
          <a:prstGeom prst="rect">
            <a:avLst/>
          </a:prstGeom>
          <a:solidFill>
            <a:srgbClr val="00FF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2468880"/>
            <a:ext cx="2743200" cy="2560320"/>
          </a:xfrm>
          <a:prstGeom prst="rect">
            <a:avLst/>
          </a:prstGeom>
          <a:solidFill>
            <a:srgbClr val="222222"/>
          </a:solidFill>
          <a:ln>
            <a:solidFill>
              <a:srgbClr val="00FF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25603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0FF41"/>
                </a:solidFill>
              </a:rPr>
              <a:t>01  INGEST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108960"/>
            <a:ext cx="2560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</a:rPr>
              <a:t>Any camera feed — RTSP, CCTV, dashcam — plugs straight 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2468880"/>
            <a:ext cx="2743200" cy="2560320"/>
          </a:xfrm>
          <a:prstGeom prst="rect">
            <a:avLst/>
          </a:prstGeom>
          <a:solidFill>
            <a:srgbClr val="222222"/>
          </a:solidFill>
          <a:ln>
            <a:solidFill>
              <a:srgbClr val="00FF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91840" y="25603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0FF41"/>
                </a:solidFill>
              </a:rPr>
              <a:t>02  DETECT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3108960"/>
            <a:ext cx="2560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</a:rPr>
              <a:t>YOLOv8 AI identifies every person &amp; vehicle in real-time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2468880"/>
            <a:ext cx="2743200" cy="2560320"/>
          </a:xfrm>
          <a:prstGeom prst="rect">
            <a:avLst/>
          </a:prstGeom>
          <a:solidFill>
            <a:srgbClr val="222222"/>
          </a:solidFill>
          <a:ln>
            <a:solidFill>
              <a:srgbClr val="00FF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25603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0FF41"/>
                </a:solidFill>
              </a:rPr>
              <a:t>03  STORE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3108960"/>
            <a:ext cx="2560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</a:rPr>
              <a:t>Every sighting logged: who, when, where, confidence score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52560" y="2468880"/>
            <a:ext cx="2743200" cy="2560320"/>
          </a:xfrm>
          <a:prstGeom prst="rect">
            <a:avLst/>
          </a:prstGeom>
          <a:solidFill>
            <a:srgbClr val="222222"/>
          </a:solidFill>
          <a:ln>
            <a:solidFill>
              <a:srgbClr val="00FF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0" y="25603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0FF41"/>
                </a:solidFill>
              </a:rPr>
              <a:t>04  SEARCH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3108960"/>
            <a:ext cx="2560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</a:rPr>
              <a:t>Agent searches → full movement timeline returned instantly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5212080"/>
            <a:ext cx="11612880" cy="457200"/>
          </a:xfrm>
          <a:prstGeom prst="rect">
            <a:avLst/>
          </a:prstGeom>
          <a:solidFill>
            <a:srgbClr val="1A1A00"/>
          </a:solidFill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DD00"/>
                </a:solidFill>
              </a:rPr>
              <a:t>CAMERA FEEDS  →  AI DETECTION  →  UNIFIED DATABASE  →  AGENT DASHBOARD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</a:rPr>
              <a:t>LIVE DATA — Real Numbers, Real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9144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FF41"/>
                </a:solidFill>
              </a:rPr>
              <a:t>🚗  VEHICLE SURVEILLANCE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371600"/>
            <a:ext cx="2560320" cy="1371600"/>
          </a:xfrm>
          <a:prstGeom prst="rect">
            <a:avLst/>
          </a:prstGeom>
          <a:solidFill>
            <a:srgbClr val="222222"/>
          </a:solidFill>
          <a:ln>
            <a:solidFill>
              <a:srgbClr val="00FF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46304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0FFFF"/>
                </a:solidFill>
              </a:rPr>
              <a:t>64,001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1945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Total Sightings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1371600"/>
            <a:ext cx="2560320" cy="1371600"/>
          </a:xfrm>
          <a:prstGeom prst="rect">
            <a:avLst/>
          </a:prstGeom>
          <a:solidFill>
            <a:srgbClr val="222222"/>
          </a:solidFill>
          <a:ln>
            <a:solidFill>
              <a:srgbClr val="00FF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08960" y="146304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0FF41"/>
                </a:solidFill>
              </a:rPr>
              <a:t>883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21945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Unique Vehicles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60720" y="1371600"/>
            <a:ext cx="2560320" cy="1371600"/>
          </a:xfrm>
          <a:prstGeom prst="rect">
            <a:avLst/>
          </a:prstGeom>
          <a:solidFill>
            <a:srgbClr val="222222"/>
          </a:solidFill>
          <a:ln>
            <a:solidFill>
              <a:srgbClr val="00FF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52159" y="146304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DD00"/>
                </a:solidFill>
              </a:rPr>
              <a:t>1,089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59" y="21945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Max Sightings
(1 Vehicle)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03920" y="1371600"/>
            <a:ext cx="2560320" cy="1371600"/>
          </a:xfrm>
          <a:prstGeom prst="rect">
            <a:avLst/>
          </a:prstGeom>
          <a:solidFill>
            <a:srgbClr val="222222"/>
          </a:solidFill>
          <a:ln>
            <a:solidFill>
              <a:srgbClr val="00FF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5360" y="146304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50–95%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21945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Confidence Range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29260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2222"/>
                </a:solidFill>
              </a:rPr>
              <a:t>🚶  PEOPLE SURVEILLANCE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3383280"/>
            <a:ext cx="2560320" cy="1371600"/>
          </a:xfrm>
          <a:prstGeom prst="rect">
            <a:avLst/>
          </a:prstGeom>
          <a:solidFill>
            <a:srgbClr val="222222"/>
          </a:solidFill>
          <a:ln>
            <a:solidFill>
              <a:srgbClr val="00FF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347472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2222"/>
                </a:solidFill>
              </a:rPr>
              <a:t>2,911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42062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Person Detections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17520" y="3383280"/>
            <a:ext cx="2560320" cy="1371600"/>
          </a:xfrm>
          <a:prstGeom prst="rect">
            <a:avLst/>
          </a:prstGeom>
          <a:solidFill>
            <a:srgbClr val="222222"/>
          </a:solidFill>
          <a:ln>
            <a:solidFill>
              <a:srgbClr val="00FF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108960" y="347472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DD00"/>
                </a:solidFill>
              </a:rPr>
              <a:t>76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08960" y="42062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Unique Individuals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760720" y="3383280"/>
            <a:ext cx="2560320" cy="1371600"/>
          </a:xfrm>
          <a:prstGeom prst="rect">
            <a:avLst/>
          </a:prstGeom>
          <a:solidFill>
            <a:srgbClr val="222222"/>
          </a:solidFill>
          <a:ln>
            <a:solidFill>
              <a:srgbClr val="00FF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852159" y="347472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13.6s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52159" y="42062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Source Footage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503920" y="3383280"/>
            <a:ext cx="2560320" cy="1371600"/>
          </a:xfrm>
          <a:prstGeom prst="rect">
            <a:avLst/>
          </a:prstGeom>
          <a:solidFill>
            <a:srgbClr val="222222"/>
          </a:solidFill>
          <a:ln>
            <a:solidFill>
              <a:srgbClr val="00FF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95360" y="347472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0FFFF"/>
                </a:solidFill>
              </a:rPr>
              <a:t>4–6 FPS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60" y="42062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CPU Processing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4937760"/>
            <a:ext cx="11640312" cy="27432"/>
          </a:xfrm>
          <a:prstGeom prst="rect">
            <a:avLst/>
          </a:prstGeom>
          <a:solidFill>
            <a:srgbClr val="00FF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" y="5029200"/>
            <a:ext cx="1161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888888"/>
                </a:solidFill>
              </a:rPr>
              <a:t>All data exported to CSV  ·  vehicle_evidence_report.csv  ·  people_surveillance_report.csv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4320" y="5486400"/>
            <a:ext cx="11612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DD00"/>
                </a:solidFill>
              </a:rPr>
              <a:t>Tracking period:  Feb 28 – Mar 12, 2026  ·  883 vehicles  ·  64,001 rows of evidence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FFD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</a:rPr>
              <a:t>FORENSIC SEARCH — 10 Seconds vs 3 Days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914400"/>
            <a:ext cx="11612880" cy="73152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DD00"/>
                </a:solidFill>
              </a:rPr>
              <a:t>SCENARIO:  Robbery at 14:32 in the CBD.  Suspect flees in a white saloon.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828800"/>
            <a:ext cx="5394960" cy="4114800"/>
          </a:xfrm>
          <a:prstGeom prst="rect">
            <a:avLst/>
          </a:prstGeom>
          <a:solidFill>
            <a:srgbClr val="1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874519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2222"/>
                </a:solidFill>
              </a:rPr>
              <a:t>❌  WITHOUT HAWKEYE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3774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8888"/>
                </a:solidFill>
              </a:rPr>
              <a:t>✗  Call 12 building managers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8803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8888"/>
                </a:solidFill>
              </a:rPr>
              <a:t>✗  Request CCTV footage manually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3832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8888"/>
                </a:solidFill>
              </a:rPr>
              <a:t>✗  Wait 2–5 days for DVDs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8862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8888"/>
                </a:solidFill>
              </a:rPr>
              <a:t>✗  Analyst manually reviews hours of tape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3891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8888"/>
                </a:solidFill>
              </a:rPr>
              <a:t>✗  Piece together route by hand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8920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8888"/>
                </a:solidFill>
              </a:rPr>
              <a:t>✗  Suspect already across the border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0" y="1828800"/>
            <a:ext cx="5943600" cy="4114800"/>
          </a:xfrm>
          <a:prstGeom prst="rect">
            <a:avLst/>
          </a:prstGeom>
          <a:solidFill>
            <a:srgbClr val="001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35040" y="1874519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0FF41"/>
                </a:solidFill>
              </a:rPr>
              <a:t>✅  WITH HAWKEYE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0" y="2377440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8FF88"/>
                </a:solidFill>
              </a:rPr>
              <a:t>✓  Agent opens dashboard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0" y="2880360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8FF88"/>
                </a:solidFill>
              </a:rPr>
              <a:t>✓  Types vehicle description or Track ID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40" y="3383280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8FF88"/>
                </a:solidFill>
              </a:rPr>
              <a:t>✓  HAWKEYE searches 64,001 records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5040" y="3886200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8FF88"/>
                </a:solidFill>
              </a:rPr>
              <a:t>✓  Every sighting returned with timestamp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5040" y="4389120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8FF88"/>
                </a:solidFill>
              </a:rPr>
              <a:t>✓  Full movement trail reconstructed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35040" y="4892040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8FF88"/>
                </a:solidFill>
              </a:rPr>
              <a:t>✓  Last known location → roadblock deployed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6035040"/>
            <a:ext cx="11612880" cy="548640"/>
          </a:xfrm>
          <a:prstGeom prst="rect">
            <a:avLst/>
          </a:prstGeom>
          <a:solidFill>
            <a:srgbClr val="00FF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320" y="6080760"/>
            <a:ext cx="1161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00000"/>
                </a:solidFill>
              </a:rPr>
              <a:t>TIME TO RESULT:  Under 10 seconds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FF41"/>
                </a:solidFill>
              </a:rPr>
              <a:t>KEY FEATURES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868680"/>
            <a:ext cx="11640312" cy="27432"/>
          </a:xfrm>
          <a:prstGeom prst="rect">
            <a:avLst/>
          </a:prstGeom>
          <a:solidFill>
            <a:srgbClr val="00FF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005840"/>
            <a:ext cx="3749039" cy="2011680"/>
          </a:xfrm>
          <a:prstGeom prst="rect">
            <a:avLst/>
          </a:prstGeom>
          <a:solidFill>
            <a:srgbClr val="222222"/>
          </a:solidFill>
          <a:ln>
            <a:solidFill>
              <a:srgbClr val="00FF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09728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FF41"/>
                </a:solidFill>
              </a:rPr>
              <a:t>🎯  Target Registration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600200"/>
            <a:ext cx="35661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Mark any vehicle or person as suspect in one click.
System highlights them RED with live movement trail.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0" y="1005840"/>
            <a:ext cx="3749039" cy="2011680"/>
          </a:xfrm>
          <a:prstGeom prst="rect">
            <a:avLst/>
          </a:prstGeom>
          <a:solidFill>
            <a:srgbClr val="222222"/>
          </a:solidFill>
          <a:ln>
            <a:solidFill>
              <a:srgbClr val="00FF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79" y="109728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FF41"/>
                </a:solidFill>
              </a:rPr>
              <a:t>🔍  Forensic Search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79" y="1600200"/>
            <a:ext cx="35661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Search by ID, description, or time range.
Returns complete sighting history instantly.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60" y="1005840"/>
            <a:ext cx="3749039" cy="2011680"/>
          </a:xfrm>
          <a:prstGeom prst="rect">
            <a:avLst/>
          </a:prstGeom>
          <a:solidFill>
            <a:srgbClr val="222222"/>
          </a:solidFill>
          <a:ln>
            <a:solidFill>
              <a:srgbClr val="00FF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09728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FF41"/>
                </a:solidFill>
              </a:rPr>
              <a:t>🗺️  Movement Trail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1600200"/>
            <a:ext cx="35661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Full chronological breadcrumb path across cameras.
Exportable for court evidence.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291840"/>
            <a:ext cx="3749039" cy="2011680"/>
          </a:xfrm>
          <a:prstGeom prst="rect">
            <a:avLst/>
          </a:prstGeom>
          <a:solidFill>
            <a:srgbClr val="222222"/>
          </a:solidFill>
          <a:ln>
            <a:solidFill>
              <a:srgbClr val="00FF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338328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FF41"/>
                </a:solidFill>
              </a:rPr>
              <a:t>📊  Analytics Dashboard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3886200"/>
            <a:ext cx="35661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Live stats, top 10 active vehicles, recent sightings.
Auto-refreshes every 5 seconds.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06240" y="3291840"/>
            <a:ext cx="3749039" cy="2011680"/>
          </a:xfrm>
          <a:prstGeom prst="rect">
            <a:avLst/>
          </a:prstGeom>
          <a:solidFill>
            <a:srgbClr val="222222"/>
          </a:solidFill>
          <a:ln>
            <a:solidFill>
              <a:srgbClr val="00FF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97679" y="338328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FF41"/>
                </a:solidFill>
              </a:rPr>
              <a:t>📁  Data Export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79" y="3886200"/>
            <a:ext cx="35661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Full CSV export — 64,001 records already exported.
Timestamped, structured, court-admissible.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38160" y="3291840"/>
            <a:ext cx="3749039" cy="2011680"/>
          </a:xfrm>
          <a:prstGeom prst="rect">
            <a:avLst/>
          </a:prstGeom>
          <a:solidFill>
            <a:srgbClr val="222222"/>
          </a:solidFill>
          <a:ln>
            <a:solidFill>
              <a:srgbClr val="00FF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0" y="338328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FF41"/>
                </a:solidFill>
              </a:rPr>
              <a:t>⚡  Real-Time Detection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3886200"/>
            <a:ext cx="35661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Cars, motorcycles, buses, trucks, persons — all detected.
Persistent Track IDs across frames.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FFFF"/>
                </a:solidFill>
              </a:rPr>
              <a:t>HAWKEYE vs Manual CCTV Review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868680"/>
            <a:ext cx="11640312" cy="27432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05840"/>
            <a:ext cx="4069080" cy="347472"/>
          </a:xfrm>
          <a:prstGeom prst="rect">
            <a:avLst/>
          </a:prstGeom>
          <a:solidFill>
            <a:srgbClr val="222222"/>
          </a:solidFill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0FFFF"/>
                </a:solidFill>
              </a:rPr>
              <a:t>Feature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1005840"/>
            <a:ext cx="3611880" cy="347472"/>
          </a:xfrm>
          <a:prstGeom prst="rect">
            <a:avLst/>
          </a:prstGeom>
          <a:solidFill>
            <a:srgbClr val="222222"/>
          </a:solidFill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2222"/>
                </a:solidFill>
              </a:rPr>
              <a:t>Manual CCTV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1005840"/>
            <a:ext cx="4069080" cy="347472"/>
          </a:xfrm>
          <a:prstGeom prst="rect">
            <a:avLst/>
          </a:prstGeom>
          <a:solidFill>
            <a:srgbClr val="222222"/>
          </a:solidFill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0FF41"/>
                </a:solidFill>
              </a:rPr>
              <a:t>HAWKEYE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463040"/>
            <a:ext cx="4023360" cy="502920"/>
          </a:xfrm>
          <a:prstGeom prst="rect">
            <a:avLst/>
          </a:prstGeom>
          <a:solidFill>
            <a:srgbClr val="0A0A0A"/>
          </a:solidFill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Time to find suspect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1463040"/>
            <a:ext cx="3566160" cy="502920"/>
          </a:xfrm>
          <a:prstGeom prst="rect">
            <a:avLst/>
          </a:prstGeom>
          <a:solidFill>
            <a:srgbClr val="0A0A0A"/>
          </a:solidFill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2222"/>
                </a:solidFill>
              </a:rPr>
              <a:t>2–5 days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1463040"/>
            <a:ext cx="4023360" cy="502920"/>
          </a:xfrm>
          <a:prstGeom prst="rect">
            <a:avLst/>
          </a:prstGeom>
          <a:solidFill>
            <a:srgbClr val="0A0A0A"/>
          </a:solidFill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FF41"/>
                </a:solidFill>
              </a:rPr>
              <a:t>Under 10 seconds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2029968"/>
            <a:ext cx="4023360" cy="502920"/>
          </a:xfrm>
          <a:prstGeom prst="rect">
            <a:avLst/>
          </a:prstGeom>
          <a:solidFill>
            <a:srgbClr val="222222"/>
          </a:solidFill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Cameras connected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2029968"/>
            <a:ext cx="3566160" cy="502920"/>
          </a:xfrm>
          <a:prstGeom prst="rect">
            <a:avLst/>
          </a:prstGeom>
          <a:solidFill>
            <a:srgbClr val="222222"/>
          </a:solidFill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2222"/>
                </a:solidFill>
              </a:rP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2029968"/>
            <a:ext cx="4023360" cy="502920"/>
          </a:xfrm>
          <a:prstGeom prst="rect">
            <a:avLst/>
          </a:prstGeom>
          <a:solidFill>
            <a:srgbClr val="222222"/>
          </a:solidFill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FF41"/>
                </a:solidFill>
              </a:rPr>
              <a:t>Unlimited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2596896"/>
            <a:ext cx="4023360" cy="502920"/>
          </a:xfrm>
          <a:prstGeom prst="rect">
            <a:avLst/>
          </a:prstGeom>
          <a:solidFill>
            <a:srgbClr val="0A0A0A"/>
          </a:solidFill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Search capability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596896"/>
            <a:ext cx="3566160" cy="502920"/>
          </a:xfrm>
          <a:prstGeom prst="rect">
            <a:avLst/>
          </a:prstGeom>
          <a:solidFill>
            <a:srgbClr val="0A0A0A"/>
          </a:solidFill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2222"/>
                </a:solidFill>
              </a:rPr>
              <a:t>None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2596896"/>
            <a:ext cx="4023360" cy="502920"/>
          </a:xfrm>
          <a:prstGeom prst="rect">
            <a:avLst/>
          </a:prstGeom>
          <a:solidFill>
            <a:srgbClr val="0A0A0A"/>
          </a:solidFill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FF41"/>
                </a:solidFill>
              </a:rPr>
              <a:t>Full forensic search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3163824"/>
            <a:ext cx="4023360" cy="502920"/>
          </a:xfrm>
          <a:prstGeom prst="rect">
            <a:avLst/>
          </a:prstGeom>
          <a:solidFill>
            <a:srgbClr val="222222"/>
          </a:solidFill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Movement timeline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3163824"/>
            <a:ext cx="3566160" cy="502920"/>
          </a:xfrm>
          <a:prstGeom prst="rect">
            <a:avLst/>
          </a:prstGeom>
          <a:solidFill>
            <a:srgbClr val="222222"/>
          </a:solidFill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2222"/>
                </a:solidFill>
              </a:rPr>
              <a:t>Manual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3163824"/>
            <a:ext cx="4023360" cy="502920"/>
          </a:xfrm>
          <a:prstGeom prst="rect">
            <a:avLst/>
          </a:prstGeom>
          <a:solidFill>
            <a:srgbClr val="222222"/>
          </a:solidFill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FF41"/>
                </a:solidFill>
              </a:rPr>
              <a:t>Automatic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" y="3730752"/>
            <a:ext cx="4023360" cy="502920"/>
          </a:xfrm>
          <a:prstGeom prst="rect">
            <a:avLst/>
          </a:prstGeom>
          <a:solidFill>
            <a:srgbClr val="0A0A0A"/>
          </a:solidFill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Real-time alerts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3730752"/>
            <a:ext cx="3566160" cy="502920"/>
          </a:xfrm>
          <a:prstGeom prst="rect">
            <a:avLst/>
          </a:prstGeom>
          <a:solidFill>
            <a:srgbClr val="0A0A0A"/>
          </a:solidFill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2222"/>
                </a:solidFill>
              </a:rPr>
              <a:t>None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0" y="3730752"/>
            <a:ext cx="4023360" cy="502920"/>
          </a:xfrm>
          <a:prstGeom prst="rect">
            <a:avLst/>
          </a:prstGeom>
          <a:solidFill>
            <a:srgbClr val="0A0A0A"/>
          </a:solidFill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FF41"/>
                </a:solidFill>
              </a:rPr>
              <a:t>Yes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" y="4297680"/>
            <a:ext cx="4023360" cy="502920"/>
          </a:xfrm>
          <a:prstGeom prst="rect">
            <a:avLst/>
          </a:prstGeom>
          <a:solidFill>
            <a:srgbClr val="222222"/>
          </a:solidFill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Data retention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0" y="4297680"/>
            <a:ext cx="3566160" cy="502920"/>
          </a:xfrm>
          <a:prstGeom prst="rect">
            <a:avLst/>
          </a:prstGeom>
          <a:solidFill>
            <a:srgbClr val="222222"/>
          </a:solidFill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2222"/>
                </a:solidFill>
              </a:rPr>
              <a:t>Tape overwrites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0" y="4297680"/>
            <a:ext cx="4023360" cy="502920"/>
          </a:xfrm>
          <a:prstGeom prst="rect">
            <a:avLst/>
          </a:prstGeom>
          <a:solidFill>
            <a:srgbClr val="222222"/>
          </a:solidFill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FF41"/>
                </a:solidFill>
              </a:rPr>
              <a:t>Permanent database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" y="4864608"/>
            <a:ext cx="4023360" cy="502920"/>
          </a:xfrm>
          <a:prstGeom prst="rect">
            <a:avLst/>
          </a:prstGeom>
          <a:solidFill>
            <a:srgbClr val="0A0A0A"/>
          </a:solidFill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Evidence export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9120" y="4864608"/>
            <a:ext cx="3566160" cy="502920"/>
          </a:xfrm>
          <a:prstGeom prst="rect">
            <a:avLst/>
          </a:prstGeom>
          <a:solidFill>
            <a:srgbClr val="0A0A0A"/>
          </a:solidFill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2222"/>
                </a:solidFill>
              </a:rPr>
              <a:t>DVD copy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20" y="4864608"/>
            <a:ext cx="4023360" cy="502920"/>
          </a:xfrm>
          <a:prstGeom prst="rect">
            <a:avLst/>
          </a:prstGeom>
          <a:solidFill>
            <a:srgbClr val="0A0A0A"/>
          </a:solidFill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FF41"/>
                </a:solidFill>
              </a:rPr>
              <a:t>Structured CSV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FFFF"/>
                </a:solidFill>
              </a:rPr>
              <a:t>TECHNOLOGY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868680"/>
            <a:ext cx="11640312" cy="27432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005840"/>
            <a:ext cx="3200400" cy="548640"/>
          </a:xfrm>
          <a:prstGeom prst="rect">
            <a:avLst/>
          </a:prstGeom>
          <a:solidFill>
            <a:srgbClr val="222222"/>
          </a:solidFill>
          <a:ln>
            <a:solidFill>
              <a:srgbClr val="00FF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0515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FF41"/>
                </a:solidFill>
              </a:rPr>
              <a:t>AI Detection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05156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0FF41"/>
                </a:solidFill>
              </a:rPr>
              <a:t>YOLOv8n  (Ultralytics)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691640"/>
            <a:ext cx="3200400" cy="548640"/>
          </a:xfrm>
          <a:prstGeom prst="rect">
            <a:avLst/>
          </a:prstGeom>
          <a:solidFill>
            <a:srgbClr val="222222"/>
          </a:solidFill>
          <a:ln>
            <a:solidFill>
              <a:srgbClr val="00FF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7373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FF41"/>
                </a:solidFill>
              </a:rPr>
              <a:t>Video Processing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173736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0FFFF"/>
                </a:solidFill>
              </a:rPr>
              <a:t>OpenCV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377440"/>
            <a:ext cx="3200400" cy="548640"/>
          </a:xfrm>
          <a:prstGeom prst="rect">
            <a:avLst/>
          </a:prstGeom>
          <a:solidFill>
            <a:srgbClr val="222222"/>
          </a:solidFill>
          <a:ln>
            <a:solidFill>
              <a:srgbClr val="00FF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24231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FF41"/>
                </a:solidFill>
              </a:rPr>
              <a:t>Web Interface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42316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DD00"/>
                </a:solidFill>
              </a:rPr>
              <a:t>Flask + HTML5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063240"/>
            <a:ext cx="3200400" cy="548640"/>
          </a:xfrm>
          <a:prstGeom prst="rect">
            <a:avLst/>
          </a:prstGeom>
          <a:solidFill>
            <a:srgbClr val="222222"/>
          </a:solidFill>
          <a:ln>
            <a:solidFill>
              <a:srgbClr val="00FF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31089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FF41"/>
                </a:solidFill>
              </a:rPr>
              <a:t>Database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310896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SQLite  →  scalable to PostgreSQL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749039"/>
            <a:ext cx="3200400" cy="548640"/>
          </a:xfrm>
          <a:prstGeom prst="rect">
            <a:avLst/>
          </a:prstGeom>
          <a:solidFill>
            <a:srgbClr val="222222"/>
          </a:solidFill>
          <a:ln>
            <a:solidFill>
              <a:srgbClr val="00FF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3794759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FF41"/>
                </a:solidFill>
              </a:rPr>
              <a:t>Vector Search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3794759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0FFFF"/>
                </a:solidFill>
              </a:rPr>
              <a:t>Ready for face embedding search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4434840"/>
            <a:ext cx="3200400" cy="548640"/>
          </a:xfrm>
          <a:prstGeom prst="rect">
            <a:avLst/>
          </a:prstGeom>
          <a:solidFill>
            <a:srgbClr val="222222"/>
          </a:solidFill>
          <a:ln>
            <a:solidFill>
              <a:srgbClr val="00FF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4480559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FF41"/>
                </a:solidFill>
              </a:rPr>
              <a:t>Deployment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4480559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0FF41"/>
                </a:solidFill>
              </a:rPr>
              <a:t>Docker-ready, cloud-deployable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5120640"/>
            <a:ext cx="3200400" cy="548640"/>
          </a:xfrm>
          <a:prstGeom prst="rect">
            <a:avLst/>
          </a:prstGeom>
          <a:solidFill>
            <a:srgbClr val="222222"/>
          </a:solidFill>
          <a:ln>
            <a:solidFill>
              <a:srgbClr val="00FF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5166359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FF41"/>
                </a:solidFill>
              </a:rPr>
              <a:t>Language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0" y="5166359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Python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5943600"/>
            <a:ext cx="11612880" cy="640080"/>
          </a:xfrm>
          <a:prstGeom prst="rect">
            <a:avLst/>
          </a:prstGeom>
          <a:solidFill>
            <a:srgbClr val="001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4320" y="5989320"/>
            <a:ext cx="11612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0FF41"/>
                </a:solidFill>
              </a:rPr>
              <a:t>Runs on standard CPU hardware — no expensive GPU required for deployment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DD00"/>
                </a:solidFill>
              </a:rPr>
              <a:t>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868680"/>
            <a:ext cx="11640312" cy="27432"/>
          </a:xfrm>
          <a:prstGeom prst="rect">
            <a:avLst/>
          </a:prstGeom>
          <a:solidFill>
            <a:srgbClr val="FFD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005840"/>
            <a:ext cx="3749039" cy="5303520"/>
          </a:xfrm>
          <a:prstGeom prst="rect">
            <a:avLst/>
          </a:prstGeom>
          <a:solidFill>
            <a:srgbClr val="222222"/>
          </a:solidFill>
          <a:ln>
            <a:solidFill>
              <a:srgbClr val="00FF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097280"/>
            <a:ext cx="3566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00FF41"/>
                </a:solidFill>
              </a:rPr>
              <a:t>PHASE 1
DONE 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11680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▸  Single-camera vehicle + person tracking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88920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▸  Forensic search &amp; movement trails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566160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▸  Analytics dashboard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343400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▸  64,001 sightings in database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120640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▸  CSV evidence export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06240" y="1005840"/>
            <a:ext cx="3749039" cy="5303520"/>
          </a:xfrm>
          <a:prstGeom prst="rect">
            <a:avLst/>
          </a:prstGeom>
          <a:solidFill>
            <a:srgbClr val="222222"/>
          </a:solidFill>
          <a:ln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79" y="1097280"/>
            <a:ext cx="3566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00FFFF"/>
                </a:solidFill>
              </a:rPr>
              <a:t>PHASE 2
30 Days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011680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▸  Multi-camera coordination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788920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▸  Face recognition (photo → find all appearances)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3566160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▸  License plate OCR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4343400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▸  Real-time SMS/email alerts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38160" y="1005840"/>
            <a:ext cx="3749039" cy="5303520"/>
          </a:xfrm>
          <a:prstGeom prst="rect">
            <a:avLst/>
          </a:prstGeom>
          <a:solidFill>
            <a:srgbClr val="222222"/>
          </a:solidFill>
          <a:ln>
            <a:solidFill>
              <a:srgbClr val="FFD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1097280"/>
            <a:ext cx="3566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DD00"/>
                </a:solidFill>
              </a:rPr>
              <a:t>PHASE 3
Scale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2011680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▸  City-wide camera network integration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2788920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▸  Warrant database cross-reference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3566160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▸  Predictive movement analysis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4343400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▸  Police dispatch system integration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FF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>
                <a:solidFill>
                  <a:srgbClr val="00FF41"/>
                </a:solidFill>
              </a:rPr>
              <a:t>🦅  HAWKEYE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737360"/>
            <a:ext cx="11640312" cy="27432"/>
          </a:xfrm>
          <a:prstGeom prst="rect">
            <a:avLst/>
          </a:prstGeom>
          <a:solidFill>
            <a:srgbClr val="00FF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DD00"/>
                </a:solidFill>
              </a:rPr>
              <a:t>"The cameras are already watching.  HAWKEYE makes them think."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8346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</a:rPr>
              <a:t>Turns thousands of blind cameras into one intelligent eye.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5661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0FF41"/>
                </a:solidFill>
              </a:rPr>
              <a:t>64,001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0690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vehicle sightings — real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35661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0FF41"/>
                </a:solidFill>
              </a:rPr>
              <a:t>883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40690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unique vehicles tracked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35661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0FF41"/>
                </a:solidFill>
              </a:rPr>
              <a:t>10 sec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40690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from crime scene to suspect location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4663440"/>
            <a:ext cx="11640312" cy="27432"/>
          </a:xfrm>
          <a:prstGeom prst="rect">
            <a:avLst/>
          </a:prstGeom>
          <a:solidFill>
            <a:srgbClr val="00FF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48463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0FFFF"/>
                </a:solidFill>
              </a:rPr>
              <a:t>GitHub:  github.com/GRACENGARI/yolo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3035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0FFFF"/>
                </a:solidFill>
              </a:rPr>
              <a:t>Live System:  http://localhost:5001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7607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88888"/>
                </a:solidFill>
              </a:rPr>
              <a:t>Evidence:  vehicle_evidence_report.csv  |  people_surveillance_report.csv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626364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55555"/>
                </a:solidFill>
              </a:rPr>
              <a:t>Built for the HAWKEYE Hackathon — AI Surveillance Intelligence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